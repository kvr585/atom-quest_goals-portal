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Kanit" panose="020B0604020202020204" charset="-34"/>
      <p:regular r:id="rId13"/>
    </p:embeddedFont>
    <p:embeddedFont>
      <p:font typeface="Martel Sans Light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87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10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18" Type="http://schemas.openxmlformats.org/officeDocument/2006/relationships/image" Target="../media/image3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9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svg"/><Relationship Id="rId19" Type="http://schemas.openxmlformats.org/officeDocument/2006/relationships/image" Target="../media/image2.pn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svg"/><Relationship Id="rId7" Type="http://schemas.openxmlformats.org/officeDocument/2006/relationships/hyperlink" Target="https://github.com/kvr585/atom-quest_goals-porta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6.png"/><Relationship Id="rId5" Type="http://schemas.openxmlformats.org/officeDocument/2006/relationships/hyperlink" Target="https://atom-quest-goals-portal.vercel.app/" TargetMode="External"/><Relationship Id="rId10" Type="http://schemas.openxmlformats.org/officeDocument/2006/relationships/image" Target="../media/image48.svg"/><Relationship Id="rId4" Type="http://schemas.openxmlformats.org/officeDocument/2006/relationships/image" Target="../media/image45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9.sv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2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2390" y="2119833"/>
            <a:ext cx="401062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AtomQuest Goals Portal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94977" y="2784202"/>
            <a:ext cx="83254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33000"/>
              </a:lnSpc>
            </a:pPr>
            <a:r>
              <a:rPr lang="fr-FR" sz="1200" dirty="0">
                <a:solidFill>
                  <a:srgbClr val="FF0000"/>
                </a:solidFill>
                <a:effectLst/>
                <a:latin typeface="Martel Sans Light" panose="020B0604020202020204" charset="0"/>
                <a:cs typeface="Martel Sans Light" panose="020B0604020202020204" charset="0"/>
              </a:rPr>
              <a:t>Enterprise HR Performance Management Platform</a:t>
            </a:r>
          </a:p>
          <a:p>
            <a:pPr marL="0" indent="0" algn="ctr">
              <a:lnSpc>
                <a:spcPct val="133000"/>
              </a:lnSpc>
              <a:buNone/>
            </a:pPr>
            <a:endParaRPr lang="en-US" sz="11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4B736-6F15-5358-D1DC-C8FA3FFA0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493" y="4567560"/>
            <a:ext cx="1341236" cy="5029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36066"/>
            <a:ext cx="1066056" cy="244376"/>
          </a:xfrm>
          <a:prstGeom prst="roundRect">
            <a:avLst>
              <a:gd name="adj" fmla="val 6612"/>
            </a:avLst>
          </a:prstGeom>
          <a:solidFill>
            <a:srgbClr val="4C010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317" y="504379"/>
            <a:ext cx="107677" cy="1076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5795" y="476399"/>
            <a:ext cx="1200299" cy="16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23577" y="731713"/>
            <a:ext cx="6491287" cy="39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Traditional Performance Tracking Is Broken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23577" y="1309464"/>
            <a:ext cx="8096845" cy="409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Enterprise HR teams are still managing goals in fragmented tools — spreadsheets, email chains, and siloed systems that create blind spots, missed deadlines, and compliance gaps.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854919"/>
            <a:ext cx="269230" cy="269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77" y="2275582"/>
            <a:ext cx="2267843" cy="19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Spreadsheet Dependency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23577" y="2546300"/>
            <a:ext cx="2597944" cy="613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Goal data lives in disconnected files with no version control or single source of truth.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2954" y="1854919"/>
            <a:ext cx="269230" cy="2692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72954" y="2275582"/>
            <a:ext cx="2041327" cy="19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Zero Visibility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272954" y="2546300"/>
            <a:ext cx="2598018" cy="613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Managers lack real-time insight into team progress until it's too late to course-correct.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2404" y="1854919"/>
            <a:ext cx="269230" cy="2692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22404" y="2275582"/>
            <a:ext cx="2041327" cy="19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Delayed Approvals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022404" y="2546300"/>
            <a:ext cx="2597944" cy="613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Manual sign-off chains stall goal activation, pushing timelines by days or weeks.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3402360"/>
            <a:ext cx="269230" cy="26923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3577" y="3823022"/>
            <a:ext cx="2176165" cy="19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Disconnected Workflows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523577" y="4093741"/>
            <a:ext cx="2597944" cy="613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HR, managers, and employees operate in silos with no unified approval or check-in process.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72954" y="3402360"/>
            <a:ext cx="269230" cy="26923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272954" y="3823022"/>
            <a:ext cx="2041327" cy="19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Painful Appraisals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3272954" y="4093741"/>
            <a:ext cx="2598018" cy="613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Quarterly reviews lack structured data, making fair and consistent evaluations nearly impossible.</a:t>
            </a:r>
            <a:endParaRPr lang="en-US" sz="10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A424351-DE66-1098-C933-6E9BB253D1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5931" y="4583470"/>
            <a:ext cx="1341236" cy="5029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5392" y="451693"/>
            <a:ext cx="1096566" cy="239390"/>
          </a:xfrm>
          <a:prstGeom prst="roundRect">
            <a:avLst>
              <a:gd name="adj" fmla="val 6644"/>
            </a:avLst>
          </a:prstGeom>
          <a:solidFill>
            <a:srgbClr val="4C010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866" y="518368"/>
            <a:ext cx="105966" cy="105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3814" y="491430"/>
            <a:ext cx="1235869" cy="159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5392" y="742652"/>
            <a:ext cx="7874794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One Centralized Platform. Every Role. Every Workflow.</a:t>
            </a:r>
            <a:endParaRPr lang="en-US" sz="2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65" y="1630412"/>
            <a:ext cx="3427140" cy="203403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5443" y="2127564"/>
            <a:ext cx="291752" cy="2917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45511" y="3120341"/>
            <a:ext cx="851915" cy="3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Admin: Audit &amp; Track</a:t>
            </a:r>
            <a:endParaRPr lang="en-US" sz="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7358" y="2128111"/>
            <a:ext cx="291752" cy="29175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271864" y="3043118"/>
            <a:ext cx="851915" cy="463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Manager: Review &amp; Approve</a:t>
            </a:r>
            <a:endParaRPr lang="en-US" sz="9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3711" y="2128111"/>
            <a:ext cx="291752" cy="29175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80712" y="3120341"/>
            <a:ext cx="851915" cy="308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Employee: Submit Goals</a:t>
            </a:r>
            <a:endParaRPr lang="en-US" sz="950" dirty="0"/>
          </a:p>
        </p:txBody>
      </p:sp>
      <p:sp>
        <p:nvSpPr>
          <p:cNvPr id="13" name="Text 6"/>
          <p:cNvSpPr/>
          <p:nvPr/>
        </p:nvSpPr>
        <p:spPr>
          <a:xfrm>
            <a:off x="515392" y="3796531"/>
            <a:ext cx="4316685" cy="599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AtomQuest Goals Portal unifies the entire performance cycle — from goal creation and approval to quarterly check-ins and executive reporting — in a single enterprise-grade platform.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5160243" y="1440656"/>
            <a:ext cx="1677814" cy="1400845"/>
          </a:xfrm>
          <a:prstGeom prst="roundRect">
            <a:avLst>
              <a:gd name="adj" fmla="val 4896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5956" y="1440656"/>
            <a:ext cx="57150" cy="140084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349925" y="1587475"/>
            <a:ext cx="179851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Goal Management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5349925" y="1899865"/>
            <a:ext cx="1341313" cy="599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Structured creation with weightage rules and lifecycle control.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6955482" y="1440656"/>
            <a:ext cx="1677814" cy="1400845"/>
          </a:xfrm>
          <a:prstGeom prst="roundRect">
            <a:avLst>
              <a:gd name="adj" fmla="val 4896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1195" y="1440656"/>
            <a:ext cx="57150" cy="140084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145164" y="1587475"/>
            <a:ext cx="1341313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Approval Workflows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7145164" y="2094830"/>
            <a:ext cx="1341313" cy="599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Multi-tier sign-off with status tracking and notifications.</a:t>
            </a:r>
            <a:endParaRPr lang="en-US" sz="1000" dirty="0"/>
          </a:p>
        </p:txBody>
      </p:sp>
      <p:sp>
        <p:nvSpPr>
          <p:cNvPr id="22" name="Shape 13"/>
          <p:cNvSpPr/>
          <p:nvPr/>
        </p:nvSpPr>
        <p:spPr>
          <a:xfrm>
            <a:off x="5160243" y="2958926"/>
            <a:ext cx="1677814" cy="1600795"/>
          </a:xfrm>
          <a:prstGeom prst="roundRect">
            <a:avLst>
              <a:gd name="adj" fmla="val 4284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5956" y="2958926"/>
            <a:ext cx="57150" cy="160079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49925" y="3105745"/>
            <a:ext cx="1341313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Quarterly Check-ins</a:t>
            </a:r>
            <a:endParaRPr lang="en-US" sz="1200" dirty="0"/>
          </a:p>
        </p:txBody>
      </p:sp>
      <p:sp>
        <p:nvSpPr>
          <p:cNvPr id="25" name="Text 15"/>
          <p:cNvSpPr/>
          <p:nvPr/>
        </p:nvSpPr>
        <p:spPr>
          <a:xfrm>
            <a:off x="5349925" y="3613100"/>
            <a:ext cx="1341313" cy="79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Structured mid-cycle updates with manager commentary.</a:t>
            </a:r>
            <a:endParaRPr lang="en-US" sz="1000" dirty="0"/>
          </a:p>
        </p:txBody>
      </p:sp>
      <p:sp>
        <p:nvSpPr>
          <p:cNvPr id="26" name="Shape 16"/>
          <p:cNvSpPr/>
          <p:nvPr/>
        </p:nvSpPr>
        <p:spPr>
          <a:xfrm>
            <a:off x="6955482" y="2958926"/>
            <a:ext cx="1677814" cy="1600795"/>
          </a:xfrm>
          <a:prstGeom prst="roundRect">
            <a:avLst>
              <a:gd name="adj" fmla="val 4284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1195" y="2958926"/>
            <a:ext cx="57150" cy="1600795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145164" y="3105745"/>
            <a:ext cx="179851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Analytics &amp; Audit</a:t>
            </a:r>
            <a:endParaRPr lang="en-US" sz="1200" dirty="0"/>
          </a:p>
        </p:txBody>
      </p:sp>
      <p:sp>
        <p:nvSpPr>
          <p:cNvPr id="29" name="Text 18"/>
          <p:cNvSpPr/>
          <p:nvPr/>
        </p:nvSpPr>
        <p:spPr>
          <a:xfrm>
            <a:off x="7145164" y="3418136"/>
            <a:ext cx="1341313" cy="79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Real-time dashboards, heatmaps, and immutable audit logs.</a:t>
            </a:r>
            <a:endParaRPr lang="en-US" sz="10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2A5B3F0-8CEC-B926-C8C4-A6C099B9A1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7704" y="4584266"/>
            <a:ext cx="1341236" cy="5029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76622"/>
            <a:ext cx="733946" cy="160958"/>
          </a:xfrm>
          <a:prstGeom prst="roundRect">
            <a:avLst>
              <a:gd name="adj" fmla="val 7250"/>
            </a:avLst>
          </a:prstGeom>
          <a:solidFill>
            <a:srgbClr val="4C0107"/>
          </a:solidFill>
          <a:ln/>
        </p:spPr>
      </p:sp>
      <p:sp>
        <p:nvSpPr>
          <p:cNvPr id="3" name="Text 1"/>
          <p:cNvSpPr/>
          <p:nvPr/>
        </p:nvSpPr>
        <p:spPr>
          <a:xfrm>
            <a:off x="581918" y="505792"/>
            <a:ext cx="1074465" cy="102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CORE FEATURES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23577" y="662806"/>
            <a:ext cx="5240164" cy="285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Everything an Enterprise Needs, Out of the Box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23577" y="1043583"/>
            <a:ext cx="4016797" cy="858441"/>
          </a:xfrm>
          <a:prstGeom prst="roundRect">
            <a:avLst>
              <a:gd name="adj" fmla="val 1699"/>
            </a:avLst>
          </a:prstGeom>
          <a:solidFill>
            <a:srgbClr val="2F2B5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62" y="1140768"/>
            <a:ext cx="291703" cy="291703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0980" y="1220912"/>
            <a:ext cx="131266" cy="1312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0762" y="1495648"/>
            <a:ext cx="160124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Goal Creation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20762" y="1676474"/>
            <a:ext cx="4279627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Weighted, structured goal entry with validation rules.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4603552" y="1043583"/>
            <a:ext cx="4016871" cy="858441"/>
          </a:xfrm>
          <a:prstGeom prst="roundRect">
            <a:avLst>
              <a:gd name="adj" fmla="val 1699"/>
            </a:avLst>
          </a:prstGeom>
          <a:solidFill>
            <a:srgbClr val="2F2B5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736" y="1140768"/>
            <a:ext cx="291703" cy="291703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0955" y="1220912"/>
            <a:ext cx="131266" cy="1312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00736" y="1495648"/>
            <a:ext cx="160124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Approval Workflow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4700736" y="1676474"/>
            <a:ext cx="4279702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Multi-role review and sign-off with status visibility.</a:t>
            </a:r>
            <a:endParaRPr lang="en-US" sz="750" dirty="0"/>
          </a:p>
        </p:txBody>
      </p:sp>
      <p:sp>
        <p:nvSpPr>
          <p:cNvPr id="15" name="Shape 9"/>
          <p:cNvSpPr/>
          <p:nvPr/>
        </p:nvSpPr>
        <p:spPr>
          <a:xfrm>
            <a:off x="523577" y="1965201"/>
            <a:ext cx="4016797" cy="858441"/>
          </a:xfrm>
          <a:prstGeom prst="roundRect">
            <a:avLst>
              <a:gd name="adj" fmla="val 1699"/>
            </a:avLst>
          </a:prstGeom>
          <a:solidFill>
            <a:srgbClr val="2F2B54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762" y="2062386"/>
            <a:ext cx="291703" cy="291703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0980" y="2142530"/>
            <a:ext cx="131266" cy="13126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20762" y="2417266"/>
            <a:ext cx="160124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Quarterly Check-ins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620762" y="2598093"/>
            <a:ext cx="4279627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Periodic progress updates tied to each active goal.</a:t>
            </a:r>
            <a:endParaRPr lang="en-US" sz="750" dirty="0"/>
          </a:p>
        </p:txBody>
      </p:sp>
      <p:sp>
        <p:nvSpPr>
          <p:cNvPr id="20" name="Shape 12"/>
          <p:cNvSpPr/>
          <p:nvPr/>
        </p:nvSpPr>
        <p:spPr>
          <a:xfrm>
            <a:off x="4603552" y="1965201"/>
            <a:ext cx="4016871" cy="858441"/>
          </a:xfrm>
          <a:prstGeom prst="roundRect">
            <a:avLst>
              <a:gd name="adj" fmla="val 1699"/>
            </a:avLst>
          </a:prstGeom>
          <a:solidFill>
            <a:srgbClr val="2F2B54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0736" y="2062386"/>
            <a:ext cx="291703" cy="291703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80955" y="2142530"/>
            <a:ext cx="131266" cy="13126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700736" y="2417266"/>
            <a:ext cx="160124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Shared Goals</a:t>
            </a:r>
            <a:endParaRPr lang="en-US" sz="900" dirty="0"/>
          </a:p>
        </p:txBody>
      </p:sp>
      <p:sp>
        <p:nvSpPr>
          <p:cNvPr id="24" name="Text 14"/>
          <p:cNvSpPr/>
          <p:nvPr/>
        </p:nvSpPr>
        <p:spPr>
          <a:xfrm>
            <a:off x="4700736" y="2598093"/>
            <a:ext cx="4279702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Cross-functional goals visible and trackable across teams.</a:t>
            </a:r>
            <a:endParaRPr lang="en-US" sz="750" dirty="0"/>
          </a:p>
        </p:txBody>
      </p:sp>
      <p:sp>
        <p:nvSpPr>
          <p:cNvPr id="25" name="Shape 15"/>
          <p:cNvSpPr/>
          <p:nvPr/>
        </p:nvSpPr>
        <p:spPr>
          <a:xfrm>
            <a:off x="523577" y="2886819"/>
            <a:ext cx="4016797" cy="858441"/>
          </a:xfrm>
          <a:prstGeom prst="roundRect">
            <a:avLst>
              <a:gd name="adj" fmla="val 1699"/>
            </a:avLst>
          </a:prstGeom>
          <a:solidFill>
            <a:srgbClr val="2F2B54"/>
          </a:solidFill>
          <a:ln/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762" y="2984004"/>
            <a:ext cx="291703" cy="291703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0980" y="3064148"/>
            <a:ext cx="131266" cy="131266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20762" y="3338885"/>
            <a:ext cx="160124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Analytics Dashboard</a:t>
            </a:r>
            <a:endParaRPr lang="en-US" sz="900" dirty="0"/>
          </a:p>
        </p:txBody>
      </p:sp>
      <p:sp>
        <p:nvSpPr>
          <p:cNvPr id="29" name="Text 17"/>
          <p:cNvSpPr/>
          <p:nvPr/>
        </p:nvSpPr>
        <p:spPr>
          <a:xfrm>
            <a:off x="620762" y="3519711"/>
            <a:ext cx="4279627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Real-time KPIs and progress metrics for every role.</a:t>
            </a:r>
            <a:endParaRPr lang="en-US" sz="750" dirty="0"/>
          </a:p>
        </p:txBody>
      </p:sp>
      <p:sp>
        <p:nvSpPr>
          <p:cNvPr id="30" name="Shape 18"/>
          <p:cNvSpPr/>
          <p:nvPr/>
        </p:nvSpPr>
        <p:spPr>
          <a:xfrm>
            <a:off x="4603552" y="2886819"/>
            <a:ext cx="4016871" cy="858441"/>
          </a:xfrm>
          <a:prstGeom prst="roundRect">
            <a:avLst>
              <a:gd name="adj" fmla="val 1699"/>
            </a:avLst>
          </a:prstGeom>
          <a:solidFill>
            <a:srgbClr val="2F2B54"/>
          </a:solidFill>
          <a:ln/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0736" y="2984004"/>
            <a:ext cx="291703" cy="291703"/>
          </a:xfrm>
          <a:prstGeom prst="rect">
            <a:avLst/>
          </a:prstGeom>
        </p:spPr>
      </p:pic>
      <p:pic>
        <p:nvPicPr>
          <p:cNvPr id="32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80955" y="3064148"/>
            <a:ext cx="131266" cy="131266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4700736" y="3338885"/>
            <a:ext cx="160124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Reports &amp; Exports</a:t>
            </a:r>
            <a:endParaRPr lang="en-US" sz="900" dirty="0"/>
          </a:p>
        </p:txBody>
      </p:sp>
      <p:sp>
        <p:nvSpPr>
          <p:cNvPr id="34" name="Text 20"/>
          <p:cNvSpPr/>
          <p:nvPr/>
        </p:nvSpPr>
        <p:spPr>
          <a:xfrm>
            <a:off x="4700736" y="3519711"/>
            <a:ext cx="4279702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CSV and PDF exports for HR compliance and audits.</a:t>
            </a:r>
            <a:endParaRPr lang="en-US" sz="750" dirty="0"/>
          </a:p>
        </p:txBody>
      </p:sp>
      <p:sp>
        <p:nvSpPr>
          <p:cNvPr id="35" name="Shape 21"/>
          <p:cNvSpPr/>
          <p:nvPr/>
        </p:nvSpPr>
        <p:spPr>
          <a:xfrm>
            <a:off x="523577" y="3808437"/>
            <a:ext cx="4016797" cy="858441"/>
          </a:xfrm>
          <a:prstGeom prst="roundRect">
            <a:avLst>
              <a:gd name="adj" fmla="val 1699"/>
            </a:avLst>
          </a:prstGeom>
          <a:solidFill>
            <a:srgbClr val="2F2B54"/>
          </a:solidFill>
          <a:ln/>
        </p:spPr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0762" y="3905622"/>
            <a:ext cx="291703" cy="291703"/>
          </a:xfrm>
          <a:prstGeom prst="rect">
            <a:avLst/>
          </a:prstGeom>
        </p:spPr>
      </p:pic>
      <p:pic>
        <p:nvPicPr>
          <p:cNvPr id="37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0980" y="3985766"/>
            <a:ext cx="131266" cy="131266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620762" y="4260503"/>
            <a:ext cx="160124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Audit Logs</a:t>
            </a:r>
            <a:endParaRPr lang="en-US" sz="900" dirty="0"/>
          </a:p>
        </p:txBody>
      </p:sp>
      <p:sp>
        <p:nvSpPr>
          <p:cNvPr id="39" name="Text 23"/>
          <p:cNvSpPr/>
          <p:nvPr/>
        </p:nvSpPr>
        <p:spPr>
          <a:xfrm>
            <a:off x="620762" y="4441329"/>
            <a:ext cx="4279627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Immutable, timestamped change history for every action.</a:t>
            </a:r>
            <a:endParaRPr lang="en-US" sz="750" dirty="0"/>
          </a:p>
        </p:txBody>
      </p:sp>
      <p:sp>
        <p:nvSpPr>
          <p:cNvPr id="40" name="Shape 24"/>
          <p:cNvSpPr/>
          <p:nvPr/>
        </p:nvSpPr>
        <p:spPr>
          <a:xfrm>
            <a:off x="4603552" y="3808437"/>
            <a:ext cx="4016871" cy="858441"/>
          </a:xfrm>
          <a:prstGeom prst="roundRect">
            <a:avLst>
              <a:gd name="adj" fmla="val 1699"/>
            </a:avLst>
          </a:prstGeom>
          <a:solidFill>
            <a:srgbClr val="2F2B54"/>
          </a:solidFill>
          <a:ln/>
        </p:spPr>
      </p:sp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00736" y="3905622"/>
            <a:ext cx="291703" cy="291703"/>
          </a:xfrm>
          <a:prstGeom prst="rect">
            <a:avLst/>
          </a:prstGeom>
        </p:spPr>
      </p:pic>
      <p:pic>
        <p:nvPicPr>
          <p:cNvPr id="42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80955" y="3985766"/>
            <a:ext cx="131266" cy="131266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4700736" y="4260503"/>
            <a:ext cx="160124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Role-Based Access</a:t>
            </a:r>
            <a:endParaRPr lang="en-US" sz="900" dirty="0"/>
          </a:p>
        </p:txBody>
      </p:sp>
      <p:sp>
        <p:nvSpPr>
          <p:cNvPr id="44" name="Text 26"/>
          <p:cNvSpPr/>
          <p:nvPr/>
        </p:nvSpPr>
        <p:spPr>
          <a:xfrm>
            <a:off x="4700736" y="4441329"/>
            <a:ext cx="4279702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Granular permissions for Employee, Manager, and Admin.</a:t>
            </a:r>
            <a:endParaRPr lang="en-US" sz="7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3C7C8FE-A52C-522E-F708-D46F31343F8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67594" y="4790049"/>
            <a:ext cx="1341236" cy="3037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32048"/>
            <a:ext cx="1254919" cy="219149"/>
          </a:xfrm>
          <a:prstGeom prst="roundRect">
            <a:avLst>
              <a:gd name="adj" fmla="val 6554"/>
            </a:avLst>
          </a:prstGeom>
          <a:noFill/>
          <a:ln w="4763">
            <a:solidFill>
              <a:srgbClr val="FD50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0149" y="472678"/>
            <a:ext cx="1558975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EMPLOYEE EXPERIENCE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23577" y="689446"/>
            <a:ext cx="5354762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 Dashboard Designed for Productivity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623" y="1862212"/>
            <a:ext cx="3120330" cy="21721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36591" y="1185118"/>
            <a:ext cx="4074765" cy="3526334"/>
          </a:xfrm>
          <a:prstGeom prst="roundRect">
            <a:avLst>
              <a:gd name="adj" fmla="val 509"/>
            </a:avLst>
          </a:prstGeom>
          <a:solidFill>
            <a:srgbClr val="1B1744"/>
          </a:solidFill>
          <a:ln/>
        </p:spPr>
      </p:sp>
      <p:sp>
        <p:nvSpPr>
          <p:cNvPr id="7" name="Text 4"/>
          <p:cNvSpPr/>
          <p:nvPr/>
        </p:nvSpPr>
        <p:spPr>
          <a:xfrm>
            <a:off x="4756249" y="1280815"/>
            <a:ext cx="2093788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What Employees See &amp; Do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1121" y="1568128"/>
            <a:ext cx="179487" cy="1794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45137" y="1564481"/>
            <a:ext cx="18652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Personal Dashboard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145137" y="1836167"/>
            <a:ext cx="3446562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At-a-glance KPI widgets showing goal count, completion rate, and pending actions.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1121" y="2375818"/>
            <a:ext cx="179487" cy="1794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45137" y="2372171"/>
            <a:ext cx="2206079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Goal Creation &amp; Submission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145137" y="2643857"/>
            <a:ext cx="3446562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Guided form with real-time weightage validation — submit for manager approval in seconds.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1121" y="3183508"/>
            <a:ext cx="179487" cy="1794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45137" y="3179862"/>
            <a:ext cx="18652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Progress Tracking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145137" y="3451547"/>
            <a:ext cx="3446562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Visual progress bars and milestone markers keep employees focused on what matters.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1121" y="3991198"/>
            <a:ext cx="179487" cy="17948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45137" y="3987552"/>
            <a:ext cx="18652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Quarterly Updates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5145137" y="4259238"/>
            <a:ext cx="3446562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Structured check-in prompts ensure timely self-assessments every cycle.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C2AC501-8647-8FA2-07C9-BAD1556196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2965" y="4848037"/>
            <a:ext cx="1341236" cy="2463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72827"/>
            <a:ext cx="1659657" cy="219149"/>
          </a:xfrm>
          <a:prstGeom prst="roundRect">
            <a:avLst>
              <a:gd name="adj" fmla="val 6554"/>
            </a:avLst>
          </a:prstGeom>
          <a:noFill/>
          <a:ln w="4763">
            <a:solidFill>
              <a:srgbClr val="FD50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0149" y="513457"/>
            <a:ext cx="1963713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MANAGER &amp; ADMIN EXPERIENCE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23577" y="730225"/>
            <a:ext cx="5268888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Full Organizational Visibility &amp; Control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23577" y="1333574"/>
            <a:ext cx="1903363" cy="1563737"/>
          </a:xfrm>
          <a:prstGeom prst="roundRect">
            <a:avLst>
              <a:gd name="adj" fmla="val 1148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865" y="1347862"/>
            <a:ext cx="1874788" cy="359048"/>
          </a:xfrm>
          <a:prstGeom prst="roundRect">
            <a:avLst>
              <a:gd name="adj" fmla="val 225"/>
            </a:avLst>
          </a:prstGeom>
          <a:solidFill>
            <a:srgbClr val="2F2B5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5515" y="1437605"/>
            <a:ext cx="179487" cy="1794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7523" y="1802606"/>
            <a:ext cx="18652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Manager View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7523" y="2074292"/>
            <a:ext cx="1635472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Review and approve team goals, submit check-in commentary, and unlock goal revisions when needed.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22637" y="1333574"/>
            <a:ext cx="1903363" cy="1563737"/>
          </a:xfrm>
          <a:prstGeom prst="roundRect">
            <a:avLst>
              <a:gd name="adj" fmla="val 1148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36924" y="1347862"/>
            <a:ext cx="1874788" cy="359048"/>
          </a:xfrm>
          <a:prstGeom prst="roundRect">
            <a:avLst>
              <a:gd name="adj" fmla="val 225"/>
            </a:avLst>
          </a:prstGeom>
          <a:solidFill>
            <a:srgbClr val="2F2B5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4575" y="1437605"/>
            <a:ext cx="179487" cy="1794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6582" y="1802606"/>
            <a:ext cx="18652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Admin View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56582" y="2074292"/>
            <a:ext cx="1635472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Organization-wide metrics, completion heatmaps, department rollups, and compliance audit exports.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990" y="1414090"/>
            <a:ext cx="3121893" cy="140263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23577" y="3112666"/>
            <a:ext cx="4000574" cy="645021"/>
          </a:xfrm>
          <a:prstGeom prst="roundRect">
            <a:avLst>
              <a:gd name="adj" fmla="val 2783"/>
            </a:avLst>
          </a:prstGeom>
          <a:solidFill>
            <a:srgbClr val="2F2B54"/>
          </a:solidFill>
          <a:ln/>
        </p:spPr>
      </p:sp>
      <p:sp>
        <p:nvSpPr>
          <p:cNvPr id="17" name="Text 12"/>
          <p:cNvSpPr/>
          <p:nvPr/>
        </p:nvSpPr>
        <p:spPr>
          <a:xfrm>
            <a:off x="643235" y="3232324"/>
            <a:ext cx="18652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Team Analytics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3235" y="3465761"/>
            <a:ext cx="4218459" cy="172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Aggregate goal progress by team, department, or cycle.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619848" y="3112666"/>
            <a:ext cx="4000574" cy="645021"/>
          </a:xfrm>
          <a:prstGeom prst="roundRect">
            <a:avLst>
              <a:gd name="adj" fmla="val 2783"/>
            </a:avLst>
          </a:prstGeom>
          <a:solidFill>
            <a:srgbClr val="2F2B54"/>
          </a:solidFill>
          <a:ln/>
        </p:spPr>
      </p:sp>
      <p:sp>
        <p:nvSpPr>
          <p:cNvPr id="20" name="Text 15"/>
          <p:cNvSpPr/>
          <p:nvPr/>
        </p:nvSpPr>
        <p:spPr>
          <a:xfrm>
            <a:off x="4739506" y="3232324"/>
            <a:ext cx="18652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Completion Heatmaps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739506" y="3465761"/>
            <a:ext cx="4218459" cy="172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Identify performance patterns across the organization visually.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23577" y="3853383"/>
            <a:ext cx="4000574" cy="817290"/>
          </a:xfrm>
          <a:prstGeom prst="roundRect">
            <a:avLst>
              <a:gd name="adj" fmla="val 2197"/>
            </a:avLst>
          </a:prstGeom>
          <a:solidFill>
            <a:srgbClr val="2F2B54"/>
          </a:solidFill>
          <a:ln/>
        </p:spPr>
      </p:sp>
      <p:sp>
        <p:nvSpPr>
          <p:cNvPr id="23" name="Text 18"/>
          <p:cNvSpPr/>
          <p:nvPr/>
        </p:nvSpPr>
        <p:spPr>
          <a:xfrm>
            <a:off x="643235" y="3973041"/>
            <a:ext cx="18652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Unlock Controls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3235" y="4206478"/>
            <a:ext cx="3761259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Managers can unlock approved goals for amendment with a full audit trail.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619848" y="3853383"/>
            <a:ext cx="4000574" cy="817290"/>
          </a:xfrm>
          <a:prstGeom prst="roundRect">
            <a:avLst>
              <a:gd name="adj" fmla="val 2197"/>
            </a:avLst>
          </a:prstGeom>
          <a:solidFill>
            <a:srgbClr val="2F2B54"/>
          </a:solidFill>
          <a:ln/>
        </p:spPr>
      </p:sp>
      <p:sp>
        <p:nvSpPr>
          <p:cNvPr id="26" name="Text 21"/>
          <p:cNvSpPr/>
          <p:nvPr/>
        </p:nvSpPr>
        <p:spPr>
          <a:xfrm>
            <a:off x="4739506" y="3973041"/>
            <a:ext cx="18652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Audit Logs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739506" y="4206478"/>
            <a:ext cx="3761259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Every state change is logged with user, timestamp, and before/after values.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A5CB5E1-E672-2820-B79A-54F6E53085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0560" y="4766369"/>
            <a:ext cx="1341236" cy="322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70520"/>
            <a:ext cx="1060326" cy="209624"/>
          </a:xfrm>
          <a:prstGeom prst="roundRect">
            <a:avLst>
              <a:gd name="adj" fmla="val 6852"/>
            </a:avLst>
          </a:prstGeom>
          <a:solidFill>
            <a:srgbClr val="4C010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387" y="527447"/>
            <a:ext cx="95696" cy="95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8932" y="506388"/>
            <a:ext cx="1230362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BUSINESS LOGIC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23577" y="719361"/>
            <a:ext cx="4800898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Intelligent Validation Rules Built In</a:t>
            </a:r>
            <a:endParaRPr lang="en-US" sz="2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74" y="1983135"/>
            <a:ext cx="3457426" cy="14908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459" y="3194179"/>
            <a:ext cx="1195365" cy="9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Approved</a:t>
            </a:r>
            <a:endParaRPr lang="en-US" sz="550" dirty="0"/>
          </a:p>
        </p:txBody>
      </p:sp>
      <p:sp>
        <p:nvSpPr>
          <p:cNvPr id="8" name="Text 4"/>
          <p:cNvSpPr/>
          <p:nvPr/>
        </p:nvSpPr>
        <p:spPr>
          <a:xfrm>
            <a:off x="1188459" y="2849064"/>
            <a:ext cx="1195365" cy="9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Under Review</a:t>
            </a:r>
            <a:endParaRPr lang="en-US" sz="550" dirty="0"/>
          </a:p>
        </p:txBody>
      </p:sp>
      <p:sp>
        <p:nvSpPr>
          <p:cNvPr id="9" name="Text 5"/>
          <p:cNvSpPr/>
          <p:nvPr/>
        </p:nvSpPr>
        <p:spPr>
          <a:xfrm>
            <a:off x="1188459" y="2507434"/>
            <a:ext cx="1195365" cy="9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Submitted</a:t>
            </a:r>
            <a:endParaRPr lang="en-US" sz="550" dirty="0"/>
          </a:p>
        </p:txBody>
      </p:sp>
      <p:sp>
        <p:nvSpPr>
          <p:cNvPr id="10" name="Text 6"/>
          <p:cNvSpPr/>
          <p:nvPr/>
        </p:nvSpPr>
        <p:spPr>
          <a:xfrm>
            <a:off x="1188459" y="2162318"/>
            <a:ext cx="1195365" cy="9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Draft</a:t>
            </a:r>
            <a:endParaRPr lang="en-US" sz="550" dirty="0"/>
          </a:p>
        </p:txBody>
      </p:sp>
      <p:sp>
        <p:nvSpPr>
          <p:cNvPr id="11" name="Text 7"/>
          <p:cNvSpPr/>
          <p:nvPr/>
        </p:nvSpPr>
        <p:spPr>
          <a:xfrm>
            <a:off x="523577" y="3581698"/>
            <a:ext cx="4321820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Every goal passes through a governed lifecycle. Validation is enforced at every stage — no manual workarounds possible.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142161" y="1502197"/>
            <a:ext cx="1693590" cy="1393924"/>
          </a:xfrm>
          <a:prstGeom prst="roundRect">
            <a:avLst>
              <a:gd name="adj" fmla="val 4920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161" y="1487909"/>
            <a:ext cx="1693590" cy="57150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9394" y="1322710"/>
            <a:ext cx="359048" cy="359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88471" y="1412453"/>
            <a:ext cx="372219" cy="1794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276106" y="1801416"/>
            <a:ext cx="18652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100% Weightage Rule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276106" y="2073101"/>
            <a:ext cx="1425699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Total goal weights must sum exactly to 100% before submission is permitted.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6931447" y="1502197"/>
            <a:ext cx="1693664" cy="1393924"/>
          </a:xfrm>
          <a:prstGeom prst="roundRect">
            <a:avLst>
              <a:gd name="adj" fmla="val 4920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447" y="1487909"/>
            <a:ext cx="1693664" cy="57150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755" y="1322710"/>
            <a:ext cx="359048" cy="359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77832" y="1412453"/>
            <a:ext cx="372219" cy="1794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7065392" y="1801416"/>
            <a:ext cx="18652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Max 8 Goals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7065392" y="2073101"/>
            <a:ext cx="1425773" cy="5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Employees may define up to 8 goals per cycle — keeping focus sharp.</a:t>
            </a:r>
            <a:endParaRPr lang="en-US" sz="900" dirty="0"/>
          </a:p>
        </p:txBody>
      </p:sp>
      <p:sp>
        <p:nvSpPr>
          <p:cNvPr id="24" name="Shape 16"/>
          <p:cNvSpPr/>
          <p:nvPr/>
        </p:nvSpPr>
        <p:spPr>
          <a:xfrm>
            <a:off x="5142161" y="3171304"/>
            <a:ext cx="1693590" cy="1393924"/>
          </a:xfrm>
          <a:prstGeom prst="roundRect">
            <a:avLst>
              <a:gd name="adj" fmla="val 4920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2161" y="3157017"/>
            <a:ext cx="1693590" cy="57150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9394" y="2991817"/>
            <a:ext cx="359048" cy="35904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688471" y="3081561"/>
            <a:ext cx="372219" cy="1794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18"/>
          <p:cNvSpPr/>
          <p:nvPr/>
        </p:nvSpPr>
        <p:spPr>
          <a:xfrm>
            <a:off x="5276106" y="3470523"/>
            <a:ext cx="18652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Min 10% Per Goal</a:t>
            </a:r>
            <a:endParaRPr lang="en-US" sz="1100" dirty="0"/>
          </a:p>
        </p:txBody>
      </p:sp>
      <p:sp>
        <p:nvSpPr>
          <p:cNvPr id="29" name="Text 19"/>
          <p:cNvSpPr/>
          <p:nvPr/>
        </p:nvSpPr>
        <p:spPr>
          <a:xfrm>
            <a:off x="5276106" y="3742209"/>
            <a:ext cx="1425699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Each goal must carry at least 10% weightage to ensure meaningful commitment.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6931447" y="3171304"/>
            <a:ext cx="1693664" cy="1393924"/>
          </a:xfrm>
          <a:prstGeom prst="roundRect">
            <a:avLst>
              <a:gd name="adj" fmla="val 4920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447" y="3157017"/>
            <a:ext cx="1693664" cy="57150"/>
          </a:xfrm>
          <a:prstGeom prst="rect">
            <a:avLst/>
          </a:prstGeom>
        </p:spPr>
      </p:pic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8755" y="2991817"/>
            <a:ext cx="359048" cy="35904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477832" y="3081561"/>
            <a:ext cx="372219" cy="1794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22"/>
          <p:cNvSpPr/>
          <p:nvPr/>
        </p:nvSpPr>
        <p:spPr>
          <a:xfrm>
            <a:off x="7065392" y="3470523"/>
            <a:ext cx="18652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Lock After Approval</a:t>
            </a:r>
            <a:endParaRPr lang="en-US" sz="1100" dirty="0"/>
          </a:p>
        </p:txBody>
      </p:sp>
      <p:sp>
        <p:nvSpPr>
          <p:cNvPr id="35" name="Text 23"/>
          <p:cNvSpPr/>
          <p:nvPr/>
        </p:nvSpPr>
        <p:spPr>
          <a:xfrm>
            <a:off x="7065392" y="3742209"/>
            <a:ext cx="1425773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Approved goals are immutable. Only a manager unlock re-opens editing.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EF11A30-D28A-17B0-E843-BD7AB96D90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4210" y="4608530"/>
            <a:ext cx="1341236" cy="5029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281" y="431378"/>
            <a:ext cx="1327621" cy="201216"/>
          </a:xfrm>
          <a:prstGeom prst="roundRect">
            <a:avLst>
              <a:gd name="adj" fmla="val 6915"/>
            </a:avLst>
          </a:prstGeom>
          <a:solidFill>
            <a:srgbClr val="4C0107"/>
          </a:solidFill>
          <a:ln/>
        </p:spPr>
      </p:sp>
      <p:sp>
        <p:nvSpPr>
          <p:cNvPr id="3" name="Text 1"/>
          <p:cNvSpPr/>
          <p:nvPr/>
        </p:nvSpPr>
        <p:spPr>
          <a:xfrm>
            <a:off x="576783" y="466130"/>
            <a:ext cx="1645816" cy="131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ANALYTICS &amp; TECH STACK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07281" y="668536"/>
            <a:ext cx="5399336" cy="340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Modern Architecture. Real-Time Insights.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7281" y="1857524"/>
            <a:ext cx="182128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Analytics Capabilities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93" y="2114773"/>
            <a:ext cx="28575" cy="9531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1793" y="2129061"/>
            <a:ext cx="1761009" cy="340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Quarter-over-Quarter Analytics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51793" y="2559844"/>
            <a:ext cx="1761009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Track goal completion trends across cycles with Recharts-powered visualizations.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805" y="2114773"/>
            <a:ext cx="28575" cy="9531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69604" y="2129061"/>
            <a:ext cx="182128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KPI Dashboards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669604" y="2389361"/>
            <a:ext cx="1761009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Role-specific metric cards surface what each user needs most.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93" y="3219078"/>
            <a:ext cx="28575" cy="78268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1793" y="3233365"/>
            <a:ext cx="182128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Reporting &amp; Exports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1793" y="3493666"/>
            <a:ext cx="1761009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CSV and PDF exports for HR compliance, audits, and leadership reviews.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805" y="3219078"/>
            <a:ext cx="28575" cy="78268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669604" y="3233365"/>
            <a:ext cx="182128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Completion Heatmaps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2669604" y="3493666"/>
            <a:ext cx="1761009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Admin-level visual density maps for spotting organizational performance gaps.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718149" y="1234083"/>
            <a:ext cx="182128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718149" y="1505620"/>
            <a:ext cx="1916757" cy="821382"/>
          </a:xfrm>
          <a:prstGeom prst="roundRect">
            <a:avLst>
              <a:gd name="adj" fmla="val 2117"/>
            </a:avLst>
          </a:prstGeom>
          <a:solidFill>
            <a:srgbClr val="2F2B54"/>
          </a:solidFill>
          <a:ln/>
        </p:spPr>
      </p:sp>
      <p:sp>
        <p:nvSpPr>
          <p:cNvPr id="20" name="Text 14"/>
          <p:cNvSpPr/>
          <p:nvPr/>
        </p:nvSpPr>
        <p:spPr>
          <a:xfrm>
            <a:off x="4834086" y="1621557"/>
            <a:ext cx="182128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834086" y="1881857"/>
            <a:ext cx="1684883" cy="329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React · TypeScript · Vite · Tailwind CSS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724724" y="1505620"/>
            <a:ext cx="1916757" cy="821382"/>
          </a:xfrm>
          <a:prstGeom prst="roundRect">
            <a:avLst>
              <a:gd name="adj" fmla="val 2117"/>
            </a:avLst>
          </a:prstGeom>
          <a:solidFill>
            <a:srgbClr val="2F2B54"/>
          </a:solidFill>
          <a:ln/>
        </p:spPr>
      </p:sp>
      <p:sp>
        <p:nvSpPr>
          <p:cNvPr id="23" name="Text 17"/>
          <p:cNvSpPr/>
          <p:nvPr/>
        </p:nvSpPr>
        <p:spPr>
          <a:xfrm>
            <a:off x="6840662" y="1621557"/>
            <a:ext cx="182128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Routing &amp; Forms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840662" y="1881857"/>
            <a:ext cx="2142083" cy="16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React Router · Zod Validation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718149" y="2416820"/>
            <a:ext cx="3923333" cy="656779"/>
          </a:xfrm>
          <a:prstGeom prst="roundRect">
            <a:avLst>
              <a:gd name="adj" fmla="val 2648"/>
            </a:avLst>
          </a:prstGeom>
          <a:solidFill>
            <a:srgbClr val="2F2B54"/>
          </a:solidFill>
          <a:ln/>
        </p:spPr>
      </p:sp>
      <p:sp>
        <p:nvSpPr>
          <p:cNvPr id="26" name="Text 20"/>
          <p:cNvSpPr/>
          <p:nvPr/>
        </p:nvSpPr>
        <p:spPr>
          <a:xfrm>
            <a:off x="4834086" y="2532757"/>
            <a:ext cx="182128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UX &amp; Charts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834086" y="2793057"/>
            <a:ext cx="4148658" cy="164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Framer Motion · Recharts</a:t>
            </a:r>
            <a:endParaRPr lang="en-US" sz="9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0460" y="3174653"/>
            <a:ext cx="3138636" cy="14363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409503" y="3367066"/>
            <a:ext cx="1110593" cy="81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Mock Database</a:t>
            </a:r>
            <a:endParaRPr lang="en-US" sz="500" dirty="0"/>
          </a:p>
        </p:txBody>
      </p:sp>
      <p:sp>
        <p:nvSpPr>
          <p:cNvPr id="30" name="Text 23"/>
          <p:cNvSpPr/>
          <p:nvPr/>
        </p:nvSpPr>
        <p:spPr>
          <a:xfrm>
            <a:off x="7409503" y="3473378"/>
            <a:ext cx="765249" cy="123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In-memory store for fast, testable data</a:t>
            </a:r>
            <a:endParaRPr lang="en-US" sz="400" dirty="0"/>
          </a:p>
        </p:txBody>
      </p:sp>
      <p:sp>
        <p:nvSpPr>
          <p:cNvPr id="31" name="Text 24"/>
          <p:cNvSpPr/>
          <p:nvPr/>
        </p:nvSpPr>
        <p:spPr>
          <a:xfrm>
            <a:off x="4777669" y="3839176"/>
            <a:ext cx="653393" cy="81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5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Service Layer</a:t>
            </a:r>
            <a:endParaRPr lang="en-US" sz="500" dirty="0"/>
          </a:p>
        </p:txBody>
      </p:sp>
      <p:sp>
        <p:nvSpPr>
          <p:cNvPr id="32" name="Text 25"/>
          <p:cNvSpPr/>
          <p:nvPr/>
        </p:nvSpPr>
        <p:spPr>
          <a:xfrm>
            <a:off x="5184726" y="3945487"/>
            <a:ext cx="703536" cy="123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TypeScript services with Zod validation</a:t>
            </a:r>
            <a:endParaRPr lang="en-US" sz="400" dirty="0"/>
          </a:p>
        </p:txBody>
      </p:sp>
      <p:sp>
        <p:nvSpPr>
          <p:cNvPr id="33" name="Text 26"/>
          <p:cNvSpPr/>
          <p:nvPr/>
        </p:nvSpPr>
        <p:spPr>
          <a:xfrm>
            <a:off x="7409503" y="4082944"/>
            <a:ext cx="1110593" cy="81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Frontend</a:t>
            </a:r>
            <a:endParaRPr lang="en-US" sz="500" dirty="0"/>
          </a:p>
        </p:txBody>
      </p:sp>
      <p:sp>
        <p:nvSpPr>
          <p:cNvPr id="34" name="Text 27"/>
          <p:cNvSpPr/>
          <p:nvPr/>
        </p:nvSpPr>
        <p:spPr>
          <a:xfrm>
            <a:off x="7409503" y="4189256"/>
            <a:ext cx="765249" cy="123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React + Vite UI for real-time analytics</a:t>
            </a:r>
            <a:endParaRPr lang="en-US" sz="4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AF307DA-FC3B-A416-4CFE-B3269563BE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2394" y="4595643"/>
            <a:ext cx="1341236" cy="5029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60772"/>
            <a:ext cx="845269" cy="226740"/>
          </a:xfrm>
          <a:prstGeom prst="roundRect">
            <a:avLst>
              <a:gd name="adj" fmla="val 6730"/>
            </a:avLst>
          </a:prstGeom>
          <a:solidFill>
            <a:srgbClr val="4C010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852" y="523280"/>
            <a:ext cx="101724" cy="1017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2401" y="498872"/>
            <a:ext cx="997372" cy="150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LIVE DEMO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23577" y="732606"/>
            <a:ext cx="3491136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Try It Live — Right Now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509290" y="1390278"/>
            <a:ext cx="4733999" cy="848544"/>
          </a:xfrm>
          <a:prstGeom prst="roundRect">
            <a:avLst>
              <a:gd name="adj" fmla="val 8082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90" y="1390278"/>
            <a:ext cx="57150" cy="8485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7827" y="1531665"/>
            <a:ext cx="2523455" cy="565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🌐</a:t>
            </a: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Live Demo URL</a:t>
            </a:r>
            <a:endParaRPr lang="en-US" sz="11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b="1" u="sng" dirty="0">
                <a:solidFill>
                  <a:srgbClr val="FD505F"/>
                </a:solidFill>
                <a:latin typeface="Kanit" pitchFamily="34" charset="0"/>
                <a:ea typeface="Kanit" pitchFamily="34" charset="-122"/>
                <a:cs typeface="Kanit" pitchFamily="34" charset="-120"/>
                <a:hlinkClick r:id="rId5"/>
              </a:rPr>
              <a:t>atom-quest-goals-</a:t>
            </a:r>
            <a:r>
              <a:rPr lang="en-US" sz="1150" b="1" u="sng" dirty="0" err="1">
                <a:solidFill>
                  <a:srgbClr val="FD505F"/>
                </a:solidFill>
                <a:latin typeface="Kanit" pitchFamily="34" charset="0"/>
                <a:ea typeface="Kanit" pitchFamily="34" charset="-122"/>
                <a:cs typeface="Kanit" pitchFamily="34" charset="-120"/>
                <a:hlinkClick r:id="rId5"/>
              </a:rPr>
              <a:t>portal.vercel.app</a:t>
            </a:r>
            <a:endParaRPr lang="en-US" sz="1150" b="1" u="sng" dirty="0">
              <a:solidFill>
                <a:srgbClr val="FD505F"/>
              </a:solidFill>
              <a:latin typeface="Kanit" pitchFamily="34" charset="0"/>
              <a:ea typeface="Kanit" pitchFamily="34" charset="-122"/>
              <a:cs typeface="Kanit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Fully deployed, no install required.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23577" y="2346871"/>
            <a:ext cx="4733999" cy="958974"/>
          </a:xfrm>
          <a:prstGeom prst="roundRect">
            <a:avLst>
              <a:gd name="adj" fmla="val 7151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290" y="2346871"/>
            <a:ext cx="57150" cy="95897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7827" y="2488257"/>
            <a:ext cx="1953295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🐙</a:t>
            </a: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GitHub Repository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707827" y="2788072"/>
            <a:ext cx="4408363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u="sng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github.com/kvr585/atom-quest_goals-portal</a:t>
            </a: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Open source · MIT License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23577" y="3413894"/>
            <a:ext cx="4733999" cy="1147167"/>
          </a:xfrm>
          <a:prstGeom prst="roundRect">
            <a:avLst>
              <a:gd name="adj" fmla="val 5978"/>
            </a:avLst>
          </a:prstGeom>
          <a:solidFill>
            <a:srgbClr val="100C35"/>
          </a:solidFill>
          <a:ln w="14288">
            <a:solidFill>
              <a:srgbClr val="48446D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290" y="3413894"/>
            <a:ext cx="57150" cy="114716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7827" y="3555281"/>
            <a:ext cx="1953295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🔑</a:t>
            </a: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Demo Credentials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707827" y="3855095"/>
            <a:ext cx="4408363" cy="564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Employee:</a:t>
            </a: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employee@atomquest.com / demo123</a:t>
            </a:r>
            <a:endParaRPr lang="en-US" sz="10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Manager:</a:t>
            </a: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manager@atomquest.com / demo123</a:t>
            </a:r>
            <a:endParaRPr lang="en-US" sz="10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00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Admin:</a:t>
            </a: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admin@atomquest.com / demo123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5343897" y="4251871"/>
            <a:ext cx="3281214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000" i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Scan to open the live demo on your device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388E6FB-E2FC-5647-2E25-98E8B9815A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7594" y="4594812"/>
            <a:ext cx="1341236" cy="502964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9B54375D-B913-F438-3F08-A9DED0C904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55745" y="1279884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61070"/>
            <a:ext cx="691455" cy="160958"/>
          </a:xfrm>
          <a:prstGeom prst="roundRect">
            <a:avLst>
              <a:gd name="adj" fmla="val 7250"/>
            </a:avLst>
          </a:prstGeom>
          <a:solidFill>
            <a:srgbClr val="4C0107"/>
          </a:solidFill>
          <a:ln/>
        </p:spPr>
      </p:sp>
      <p:sp>
        <p:nvSpPr>
          <p:cNvPr id="3" name="Text 1"/>
          <p:cNvSpPr/>
          <p:nvPr/>
        </p:nvSpPr>
        <p:spPr>
          <a:xfrm>
            <a:off x="581918" y="490240"/>
            <a:ext cx="1031974" cy="102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FUTURE SCOPE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23577" y="647254"/>
            <a:ext cx="2745358" cy="285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What Comes Next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23577" y="1028030"/>
            <a:ext cx="388962" cy="583481"/>
          </a:xfrm>
          <a:prstGeom prst="roundRect">
            <a:avLst>
              <a:gd name="adj" fmla="val 360030"/>
            </a:avLst>
          </a:prstGeom>
          <a:solidFill>
            <a:srgbClr val="2F2B5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096" y="1246808"/>
            <a:ext cx="145852" cy="1458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5717" y="1125215"/>
            <a:ext cx="160124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Azure AD Integration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5717" y="1306041"/>
            <a:ext cx="8101905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SSO and identity management for seamless enterprise onboarding.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523577" y="1674688"/>
            <a:ext cx="388962" cy="583481"/>
          </a:xfrm>
          <a:prstGeom prst="roundRect">
            <a:avLst>
              <a:gd name="adj" fmla="val 360030"/>
            </a:avLst>
          </a:prstGeom>
          <a:solidFill>
            <a:srgbClr val="2F2B5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096" y="1893466"/>
            <a:ext cx="145852" cy="1458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5717" y="1771873"/>
            <a:ext cx="160124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Microsoft Teams Bot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75717" y="1952699"/>
            <a:ext cx="8101905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Goal nudges, approvals, and check-in reminders inside Teams.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523577" y="2321347"/>
            <a:ext cx="388962" cy="583481"/>
          </a:xfrm>
          <a:prstGeom prst="roundRect">
            <a:avLst>
              <a:gd name="adj" fmla="val 360030"/>
            </a:avLst>
          </a:prstGeom>
          <a:solidFill>
            <a:srgbClr val="2F2B5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96" y="2540124"/>
            <a:ext cx="145852" cy="1458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5717" y="2418531"/>
            <a:ext cx="160124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AI Recommendations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975717" y="2599358"/>
            <a:ext cx="8101905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ML-powered goal suggestions based on role, history, and org benchmarks.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523577" y="2968005"/>
            <a:ext cx="388962" cy="583481"/>
          </a:xfrm>
          <a:prstGeom prst="roundRect">
            <a:avLst>
              <a:gd name="adj" fmla="val 360030"/>
            </a:avLst>
          </a:prstGeom>
          <a:solidFill>
            <a:srgbClr val="2F2B54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096" y="3186782"/>
            <a:ext cx="145852" cy="1458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75717" y="3065190"/>
            <a:ext cx="1601242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Advanced Analytics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975717" y="3246016"/>
            <a:ext cx="8101905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Predictive performance trends and executive-level BI dashboards.</a:t>
            </a:r>
            <a:endParaRPr lang="en-US" sz="750" dirty="0"/>
          </a:p>
        </p:txBody>
      </p:sp>
      <p:sp>
        <p:nvSpPr>
          <p:cNvPr id="21" name="Shape 15"/>
          <p:cNvSpPr/>
          <p:nvPr/>
        </p:nvSpPr>
        <p:spPr>
          <a:xfrm>
            <a:off x="523577" y="3614663"/>
            <a:ext cx="388962" cy="583481"/>
          </a:xfrm>
          <a:prstGeom prst="roundRect">
            <a:avLst>
              <a:gd name="adj" fmla="val 360030"/>
            </a:avLst>
          </a:prstGeom>
          <a:solidFill>
            <a:srgbClr val="2F2B54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096" y="3833440"/>
            <a:ext cx="145852" cy="1458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5717" y="3711848"/>
            <a:ext cx="1705049" cy="142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Notification Automation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975717" y="3892674"/>
            <a:ext cx="8101905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Smart deadline alerts, escalation chains, and cycle reminders.</a:t>
            </a:r>
            <a:endParaRPr lang="en-US" sz="750" dirty="0"/>
          </a:p>
        </p:txBody>
      </p:sp>
      <p:sp>
        <p:nvSpPr>
          <p:cNvPr id="25" name="Text 18"/>
          <p:cNvSpPr/>
          <p:nvPr/>
        </p:nvSpPr>
        <p:spPr>
          <a:xfrm>
            <a:off x="669429" y="4340275"/>
            <a:ext cx="7950994" cy="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Thank You</a:t>
            </a: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Built with passion by Team AtomQuest </a:t>
            </a:r>
            <a:r>
              <a:rPr lang="en-US" sz="75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🚀</a:t>
            </a:r>
            <a:endParaRPr lang="en-US" sz="7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AtomQuest Goals Portal · Hackathon Finale 2026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523577" y="4269209"/>
            <a:ext cx="14288" cy="413147"/>
          </a:xfrm>
          <a:prstGeom prst="rect">
            <a:avLst/>
          </a:prstGeom>
          <a:solidFill>
            <a:srgbClr val="FD505F"/>
          </a:solidFill>
          <a:ln/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B19E287-1532-CE2C-2E9C-8B14082D93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7594" y="4594812"/>
            <a:ext cx="1341236" cy="5029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894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Kanit</vt:lpstr>
      <vt:lpstr>Martel Sans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veera bhadhra</cp:lastModifiedBy>
  <cp:revision>3</cp:revision>
  <cp:lastPrinted>2026-05-18T17:16:53Z</cp:lastPrinted>
  <dcterms:created xsi:type="dcterms:W3CDTF">2026-05-18T06:50:45Z</dcterms:created>
  <dcterms:modified xsi:type="dcterms:W3CDTF">2026-05-18T17:21:54Z</dcterms:modified>
</cp:coreProperties>
</file>